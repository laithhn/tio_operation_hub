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a551934afe4449" /><Relationship Type="http://schemas.openxmlformats.org/officeDocument/2006/relationships/extended-properties" Target="/docProps/app.xml" Id="R0d7d66c9c06c4cdf" /><Relationship Type="http://schemas.openxmlformats.org/officeDocument/2006/relationships/officeDocument" Target="/ppt/presentation.xml" Id="R88066e3f14914a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110d3b81254cba"/>
  </p:sldMasterIdLst>
  <p:notesMasterIdLst>
    <p:notesMasterId xmlns:r="http://schemas.openxmlformats.org/officeDocument/2006/relationships" r:id="R23345c3ff5a04116"/>
  </p:notesMasterIdLst>
  <p:sldIdLst>
    <p:sldId xmlns:r="http://schemas.openxmlformats.org/officeDocument/2006/relationships" id="256" r:id="Rc89f0a48a2a14a5b"/>
    <p:sldId xmlns:r="http://schemas.openxmlformats.org/officeDocument/2006/relationships" id="257" r:id="R973d630d77e54a87"/>
    <p:sldId xmlns:r="http://schemas.openxmlformats.org/officeDocument/2006/relationships" id="258" r:id="Rd6492d14b2f149ec"/>
    <p:sldId xmlns:r="http://schemas.openxmlformats.org/officeDocument/2006/relationships" id="259" r:id="R11695c21f8f44ca5"/>
    <p:sldId xmlns:r="http://schemas.openxmlformats.org/officeDocument/2006/relationships" id="260" r:id="R20ac2bdebe63453e"/>
    <p:sldId xmlns:r="http://schemas.openxmlformats.org/officeDocument/2006/relationships" id="261" r:id="R1640931691fb44ff"/>
    <p:sldId xmlns:r="http://schemas.openxmlformats.org/officeDocument/2006/relationships" id="262" r:id="R79b64993af494b24"/>
    <p:sldId xmlns:r="http://schemas.openxmlformats.org/officeDocument/2006/relationships" id="263" r:id="Rcfb333b0eef84ecb"/>
    <p:sldId xmlns:r="http://schemas.openxmlformats.org/officeDocument/2006/relationships" id="264" r:id="R27412b13e35e4516"/>
    <p:sldId xmlns:r="http://schemas.openxmlformats.org/officeDocument/2006/relationships" id="265" r:id="R99484d03e92746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745d8c55ea4450" /><Relationship Type="http://schemas.openxmlformats.org/officeDocument/2006/relationships/slideMaster" Target="/ppt/slideMasters/slideMaster1.xml" Id="Rf6110d3b81254cba" /><Relationship Type="http://schemas.openxmlformats.org/officeDocument/2006/relationships/notesMaster" Target="/ppt/notesMasters/notesMaster1.xml" Id="R23345c3ff5a04116" /><Relationship Type="http://schemas.openxmlformats.org/officeDocument/2006/relationships/presProps" Target="/ppt/presProps.xml" Id="R2c3ae1de29ab4e0f" /><Relationship Type="http://schemas.openxmlformats.org/officeDocument/2006/relationships/tableStyles" Target="/ppt/tableStyles.xml" Id="R1be9677d1a7d472e" /><Relationship Type="http://schemas.openxmlformats.org/officeDocument/2006/relationships/slide" Target="/ppt/slides/slide1.xml" Id="Rc89f0a48a2a14a5b" /><Relationship Type="http://schemas.openxmlformats.org/officeDocument/2006/relationships/slide" Target="/ppt/slides/slide2.xml" Id="R973d630d77e54a87" /><Relationship Type="http://schemas.openxmlformats.org/officeDocument/2006/relationships/slide" Target="/ppt/slides/slide3.xml" Id="Rd6492d14b2f149ec" /><Relationship Type="http://schemas.openxmlformats.org/officeDocument/2006/relationships/slide" Target="/ppt/slides/slide4.xml" Id="R11695c21f8f44ca5" /><Relationship Type="http://schemas.openxmlformats.org/officeDocument/2006/relationships/slide" Target="/ppt/slides/slide5.xml" Id="R20ac2bdebe63453e" /><Relationship Type="http://schemas.openxmlformats.org/officeDocument/2006/relationships/slide" Target="/ppt/slides/slide6.xml" Id="R1640931691fb44ff" /><Relationship Type="http://schemas.openxmlformats.org/officeDocument/2006/relationships/slide" Target="/ppt/slides/slide7.xml" Id="R79b64993af494b24" /><Relationship Type="http://schemas.openxmlformats.org/officeDocument/2006/relationships/slide" Target="/ppt/slides/slide8.xml" Id="Rcfb333b0eef84ecb" /><Relationship Type="http://schemas.openxmlformats.org/officeDocument/2006/relationships/slide" Target="/ppt/slides/slide9.xml" Id="R27412b13e35e4516" /><Relationship Type="http://schemas.openxmlformats.org/officeDocument/2006/relationships/slide" Target="/ppt/slides/slide10.xml" Id="R99484d03e927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7733cf56c4b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8057557ca42ec" /><Relationship Type="http://schemas.openxmlformats.org/officeDocument/2006/relationships/notesMaster" Target="/ppt/notesMasters/notesMaster1.xml" Id="R0993ed5eb469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726b2c8f84c73" /><Relationship Type="http://schemas.openxmlformats.org/officeDocument/2006/relationships/notesMaster" Target="/ppt/notesMasters/notesMaster1.xml" Id="Rf5552ea0b23a4b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4a4016b7a4470d" /><Relationship Type="http://schemas.openxmlformats.org/officeDocument/2006/relationships/notesMaster" Target="/ppt/notesMasters/notesMaster1.xml" Id="Ra5827a0d650047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2b26d0d2fc4c3c" /><Relationship Type="http://schemas.openxmlformats.org/officeDocument/2006/relationships/notesMaster" Target="/ppt/notesMasters/notesMaster1.xml" Id="R0f39963b29904a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b8e47458fd45d9" /><Relationship Type="http://schemas.openxmlformats.org/officeDocument/2006/relationships/notesMaster" Target="/ppt/notesMasters/notesMaster1.xml" Id="R346d21b7943f4d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be562a960c4443" /><Relationship Type="http://schemas.openxmlformats.org/officeDocument/2006/relationships/notesMaster" Target="/ppt/notesMasters/notesMaster1.xml" Id="Rcc5ee40d649f45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f58535555c4a54" /><Relationship Type="http://schemas.openxmlformats.org/officeDocument/2006/relationships/notesMaster" Target="/ppt/notesMasters/notesMaster1.xml" Id="R976bad3cf40b4e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daf00b153e4e31" /><Relationship Type="http://schemas.openxmlformats.org/officeDocument/2006/relationships/notesMaster" Target="/ppt/notesMasters/notesMaster1.xml" Id="Rc2128f7e06fd40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166b9898214482" /><Relationship Type="http://schemas.openxmlformats.org/officeDocument/2006/relationships/notesMaster" Target="/ppt/notesMasters/notesMaster1.xml" Id="R017575113c6c49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416b2ad85244f8" /><Relationship Type="http://schemas.openxmlformats.org/officeDocument/2006/relationships/notesMaster" Target="/ppt/notesMasters/notesMaster1.xml" Id="Rba0d645443f241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TIO Hub as an internal operational record and workflow application for managing contract-linked service work. The screenshot is a direct capture from a local 2.30.0 development build using fictional data. The captured interface includes reference VITRONIC branding. Obtain brand owner approval or use brand-safe replacement artwork before external distribution. Sources: README.md, docs/RELEASE-NOTES-2.30.0.md, docs/portfolio/product-screenshots.md.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operating requirement, not a quantified market claim. Local policy determines decision rights and customer commitments.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docs/DECISIONS.md A61-A66; docs/portfolio/service-management-playbook.md.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lifecycle is a proposed operating model around current product records. Contract execution and interpretation remain with authorized owners.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docs/portfolio/service-management-playbook.md; docs/DECISIONS.md A61-A66.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docs/portfolio/user-manual.md; docs/portfolio/product-pack.md.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TIO Hub provides operational records and workflows. Jira references are manual. Do not present this as a synchronized ITSM suite or monitoring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docs/portfolio/user-manual.md; docs/DECISIONS.md A62.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response is explicitly recorded at actual send time; resolution is first move into Pending validation or Closed. Only customer waits pause where contract allows. Finance independently reconciles indicative candidates. No credits or accounting entries are created.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docs/DECISIONS.md A61, A63, A66; docs/portfolio/service-management-playbook.md.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editable chart shows local fictional seed counts. Categories have different meanings and must not be treated as a comparative score, benchmark or customer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docs/DECISIONS.md A62; docs/portfolio/technical-pack.md.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docs/SYSTEM-DESIGN.md; docs/OPERATIONS.md.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Stages are proposed local adoption milestones, not a product rating, certification, or customer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docs/portfolio/service-management-playbook.md.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a scoped discovery and technical fit review. Avoid implying a committed pilot date, service availability, or published customer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docs/portfolio/commercial-pack.md; docs/portfolio/product-pack.md.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9ce85a4e245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5587fe73040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a83b4af1246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c28bdbc3942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cb55bad734f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97327861540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850506-818C-4527-8252-303FE1CB7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B25929-5CDD-444D-8779-D8414FFB72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DAB079-C3C0-4BD2-A6B1-6FDE164BE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AC62C5-3638-41D5-B2EE-C7519363C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74ED87-D503-4976-BA53-FB1344AFAD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756F2C-27BB-4E76-9C17-1B9EA9662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E871FE-D9A1-4E20-B1BA-158A2476CA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7525C32-C18A-468E-BCD5-BC92E37036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AC3323-79FD-4364-B596-7F7A4CDA9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EA69D0-D4B6-41C5-9B66-F9457EDC63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6732e5f6a34cf5" /><Relationship Type="http://schemas.openxmlformats.org/officeDocument/2006/relationships/slideLayout" Target="/ppt/slideLayouts/slideLayout1.xml" Id="R398877ae7ac44e8b" /><Relationship Type="http://schemas.openxmlformats.org/officeDocument/2006/relationships/slideLayout" Target="/ppt/slideLayouts/slideLayout2.xml" Id="R6c2c988bda49476c" /><Relationship Type="http://schemas.openxmlformats.org/officeDocument/2006/relationships/slideLayout" Target="/ppt/slideLayouts/slideLayout3.xml" Id="R3d98afee43ee4a85" /><Relationship Type="http://schemas.openxmlformats.org/officeDocument/2006/relationships/slideLayout" Target="/ppt/slideLayouts/slideLayout4.xml" Id="Rf039fdc67e384974" /><Relationship Type="http://schemas.openxmlformats.org/officeDocument/2006/relationships/slideLayout" Target="/ppt/slideLayouts/slideLayout5.xml" Id="Rf1d10440dc0c4b67" /><Relationship Type="http://schemas.openxmlformats.org/officeDocument/2006/relationships/slideLayout" Target="/ppt/slideLayouts/slideLayout6.xml" Id="R542acbede36c43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877ae7ac44e8b"/>
    <p:sldLayoutId xmlns:r="http://schemas.openxmlformats.org/officeDocument/2006/relationships" id="2147483650" r:id="R6c2c988bda49476c"/>
    <p:sldLayoutId xmlns:r="http://schemas.openxmlformats.org/officeDocument/2006/relationships" id="2147483651" r:id="R3d98afee43ee4a85"/>
    <p:sldLayoutId xmlns:r="http://schemas.openxmlformats.org/officeDocument/2006/relationships" id="2147483652" r:id="Rf039fdc67e384974"/>
    <p:sldLayoutId xmlns:r="http://schemas.openxmlformats.org/officeDocument/2006/relationships" id="2147483653" r:id="Rf1d10440dc0c4b67"/>
    <p:sldLayoutId xmlns:r="http://schemas.openxmlformats.org/officeDocument/2006/relationships" id="2147483654" r:id="R542acbede36c43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13d308ceb431f" /><Relationship Type="http://schemas.openxmlformats.org/officeDocument/2006/relationships/image" Target="/ppt/media/image.png" Id="R7d61b6a756df410e" /><Relationship Type="http://schemas.openxmlformats.org/officeDocument/2006/relationships/notesSlide" Target="/ppt/notesSlides/notesSlide1.xml" Id="R952cbd83877a47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659c186594963" /><Relationship Type="http://schemas.openxmlformats.org/officeDocument/2006/relationships/notesSlide" Target="/ppt/notesSlides/notesSlide2.xml" Id="Rd14d9abe189d4c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45d08f7fe417f" /><Relationship Type="http://schemas.openxmlformats.org/officeDocument/2006/relationships/notesSlide" Target="/ppt/notesSlides/notesSlide3.xml" Id="Rd1b2fa7e52b24a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9391a007148de" /><Relationship Type="http://schemas.openxmlformats.org/officeDocument/2006/relationships/image" Target="/ppt/media/image2.png" Id="R7e3d6a76d5c44c3c" /><Relationship Type="http://schemas.openxmlformats.org/officeDocument/2006/relationships/notesSlide" Target="/ppt/notesSlides/notesSlide4.xml" Id="R16e7d56b6a4644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661b0ff264f74" /><Relationship Type="http://schemas.openxmlformats.org/officeDocument/2006/relationships/image" Target="/ppt/media/image3.png" Id="R4c065bd9e04243cb" /><Relationship Type="http://schemas.openxmlformats.org/officeDocument/2006/relationships/notesSlide" Target="/ppt/notesSlides/notesSlide5.xml" Id="Re0134cf6212b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8fae6d3bf4ffd" /><Relationship Type="http://schemas.openxmlformats.org/officeDocument/2006/relationships/notesSlide" Target="/ppt/notesSlides/notesSlide6.xml" Id="R6ed68f041d0d4f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06b2a92c64efc" /><Relationship Type="http://schemas.openxmlformats.org/officeDocument/2006/relationships/image" Target="/ppt/media/image4.png" Id="Redb6b1d8eea2410b" /><Relationship Type="http://schemas.openxmlformats.org/officeDocument/2006/relationships/chart" Target="/ppt/slides/charts/chart1.xml" Id="Rdeca24b72a3d4e42" /><Relationship Type="http://schemas.openxmlformats.org/officeDocument/2006/relationships/notesSlide" Target="/ppt/notesSlides/notesSlide7.xml" Id="R7ee35546353942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e948ab00145af" /><Relationship Type="http://schemas.openxmlformats.org/officeDocument/2006/relationships/notesSlide" Target="/ppt/notesSlides/notesSlide8.xml" Id="R46c024f1a4354c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4e1a67d9e4089" /><Relationship Type="http://schemas.openxmlformats.org/officeDocument/2006/relationships/notesSlide" Target="/ppt/notesSlides/notesSlide9.xml" Id="R13cd8c8185954b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7c6f58b59423d" /><Relationship Type="http://schemas.openxmlformats.org/officeDocument/2006/relationships/notesSlide" Target="/ppt/notesSlides/notesSlide10.xml" Id="R2029a76ef00b44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4223F"/>
                </a:solidFill>
                <a:latin typeface="Aptos"/>
                <a:ea typeface="Aptos"/>
                <a:cs typeface="Aptos"/>
              </a:rPr>
              <a:t>Fictional local demo record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4223F"/>
              </a:solidFill>
              <a:latin typeface="Aptos"/>
              <a:ea typeface="Aptos"/>
              <a:cs typeface="Apto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2A78D6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Clients</c:v>
                </c:pt>
                <c:pt idx="1">
                  <c:v>Open cases</c:v>
                </c:pt>
                <c:pt idx="2">
                  <c:v>Commitments</c:v>
                </c:pt>
                <c:pt idx="3">
                  <c:v>Escalations</c:v>
                </c:pt>
                <c:pt idx="4">
                  <c:v>Contracts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177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DF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177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1AF8E-7330-4C58-9040-A6AC77A9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DBCF2"/>
                </a:solidFill>
              </a:defRPr>
            </a:defPPr>
            <a:lvl1pPr>
              <a:defRPr sz="1350" b="1">
                <a:solidFill>
                  <a:srgbClr val="8DBCF2"/>
                </a:solidFill>
              </a:defRPr>
            </a:lvl1pPr>
            <a:lvl2pPr>
              <a:defRPr sz="1350" b="1">
                <a:solidFill>
                  <a:srgbClr val="8DBCF2"/>
                </a:solidFill>
              </a:defRPr>
            </a:lvl2pPr>
            <a:lvl3pPr>
              <a:defRPr sz="1350" b="1">
                <a:solidFill>
                  <a:srgbClr val="8DBCF2"/>
                </a:solidFill>
              </a:defRPr>
            </a:lvl3pPr>
            <a:lvl4pPr>
              <a:defRPr sz="1350" b="1">
                <a:solidFill>
                  <a:srgbClr val="8DBCF2"/>
                </a:solidFill>
              </a:defRPr>
            </a:lvl4pPr>
            <a:lvl5pPr>
              <a:defRPr sz="1350" b="1">
                <a:solidFill>
                  <a:srgbClr val="8DBCF2"/>
                </a:solidFill>
              </a:defRPr>
            </a:lvl5pPr>
            <a:lvl6pPr>
              <a:defRPr sz="1350" b="1">
                <a:solidFill>
                  <a:srgbClr val="8DBCF2"/>
                </a:solidFill>
              </a:defRPr>
            </a:lvl6pPr>
            <a:lvl7pPr>
              <a:defRPr sz="1350" b="1">
                <a:solidFill>
                  <a:srgbClr val="8DBCF2"/>
                </a:solidFill>
              </a:defRPr>
            </a:lvl7pPr>
            <a:lvl8pPr>
              <a:defRPr sz="1350" b="1">
                <a:solidFill>
                  <a:srgbClr val="8DBCF2"/>
                </a:solidFill>
              </a:defRPr>
            </a:lvl8pPr>
            <a:lvl9pPr>
              <a:defRPr sz="135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DBCF2"/>
                </a:solidFill>
              </a:defRPr>
            </a:pPr>
            <a:r>
              <a:rPr sz="1350" b="1">
                <a:solidFill>
                  <a:srgbClr val="8DBCF2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60204-EBCB-4B5C-9E40-17B89A8A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</a:defRPr>
            </a:defPPr>
            <a:lvl1pPr>
              <a:defRPr sz="3375" b="1">
                <a:solidFill>
                  <a:srgbClr val="FFFFFF"/>
                </a:solidFill>
              </a:defRPr>
            </a:lvl1pPr>
            <a:lvl2pPr>
              <a:defRPr sz="3375" b="1">
                <a:solidFill>
                  <a:srgbClr val="FFFFFF"/>
                </a:solidFill>
              </a:defRPr>
            </a:lvl2pPr>
            <a:lvl3pPr>
              <a:defRPr sz="3375" b="1">
                <a:solidFill>
                  <a:srgbClr val="FFFFFF"/>
                </a:solidFill>
              </a:defRPr>
            </a:lvl3pPr>
            <a:lvl4pPr>
              <a:defRPr sz="3375" b="1">
                <a:solidFill>
                  <a:srgbClr val="FFFFFF"/>
                </a:solidFill>
              </a:defRPr>
            </a:lvl4pPr>
            <a:lvl5pPr>
              <a:defRPr sz="3375" b="1">
                <a:solidFill>
                  <a:srgbClr val="FFFFFF"/>
                </a:solidFill>
              </a:defRPr>
            </a:lvl5pPr>
            <a:lvl6pPr>
              <a:defRPr sz="3375" b="1">
                <a:solidFill>
                  <a:srgbClr val="FFFFFF"/>
                </a:solidFill>
              </a:defRPr>
            </a:lvl6pPr>
            <a:lvl7pPr>
              <a:defRPr sz="3375" b="1">
                <a:solidFill>
                  <a:srgbClr val="FFFFFF"/>
                </a:solidFill>
              </a:defRPr>
            </a:lvl7pPr>
            <a:lvl8pPr>
              <a:defRPr sz="3375" b="1">
                <a:solidFill>
                  <a:srgbClr val="FFFFFF"/>
                </a:solidFill>
              </a:defRPr>
            </a:lvl8pPr>
            <a:lvl9pPr>
              <a:defRPr sz="33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Manage service obligations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with operational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AFD04-2FC8-4CE9-AEAE-F4F261DF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1E1"/>
                </a:solidFill>
              </a:defRPr>
            </a:defPPr>
            <a:lvl1pPr>
              <a:defRPr sz="1800" b="0">
                <a:solidFill>
                  <a:srgbClr val="C4D1E1"/>
                </a:solidFill>
              </a:defRPr>
            </a:lvl1pPr>
            <a:lvl2pPr>
              <a:defRPr sz="1800" b="0">
                <a:solidFill>
                  <a:srgbClr val="C4D1E1"/>
                </a:solidFill>
              </a:defRPr>
            </a:lvl2pPr>
            <a:lvl3pPr>
              <a:defRPr sz="1800" b="0">
                <a:solidFill>
                  <a:srgbClr val="C4D1E1"/>
                </a:solidFill>
              </a:defRPr>
            </a:lvl3pPr>
            <a:lvl4pPr>
              <a:defRPr sz="1800" b="0">
                <a:solidFill>
                  <a:srgbClr val="C4D1E1"/>
                </a:solidFill>
              </a:defRPr>
            </a:lvl4pPr>
            <a:lvl5pPr>
              <a:defRPr sz="1800" b="0">
                <a:solidFill>
                  <a:srgbClr val="C4D1E1"/>
                </a:solidFill>
              </a:defRPr>
            </a:lvl5pPr>
            <a:lvl6pPr>
              <a:defRPr sz="1800" b="0">
                <a:solidFill>
                  <a:srgbClr val="C4D1E1"/>
                </a:solidFill>
              </a:defRPr>
            </a:lvl6pPr>
            <a:lvl7pPr>
              <a:defRPr sz="1800" b="0">
                <a:solidFill>
                  <a:srgbClr val="C4D1E1"/>
                </a:solidFill>
              </a:defRPr>
            </a:lvl7pPr>
            <a:lvl8pPr>
              <a:defRPr sz="1800" b="0">
                <a:solidFill>
                  <a:srgbClr val="C4D1E1"/>
                </a:solidFill>
              </a:defRPr>
            </a:lvl8pPr>
            <a:lvl9pPr>
              <a:defRPr sz="1800" b="0">
                <a:solidFill>
                  <a:srgbClr val="C4D1E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1E1"/>
                </a:solidFill>
              </a:defRPr>
            </a:pPr>
            <a:r>
              <a:rPr sz="1800" b="0">
                <a:solidFill>
                  <a:srgbClr val="C4D1E1"/>
                </a:solidFill>
              </a:rPr>
              <a:t>Connect contract terms, SLA case work, ownership and review in one operations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B4CF4-1D9C-496F-B132-1567AF6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695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03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B8D1B-8053-41E4-8CC9-C4467372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101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8C8DD"/>
                </a:solidFill>
              </a:defRPr>
            </a:defPPr>
            <a:lvl1pPr>
              <a:defRPr sz="975" b="1">
                <a:solidFill>
                  <a:srgbClr val="B8C8DD"/>
                </a:solidFill>
              </a:defRPr>
            </a:lvl1pPr>
            <a:lvl2pPr>
              <a:defRPr sz="975" b="1">
                <a:solidFill>
                  <a:srgbClr val="B8C8DD"/>
                </a:solidFill>
              </a:defRPr>
            </a:lvl2pPr>
            <a:lvl3pPr>
              <a:defRPr sz="975" b="1">
                <a:solidFill>
                  <a:srgbClr val="B8C8DD"/>
                </a:solidFill>
              </a:defRPr>
            </a:lvl3pPr>
            <a:lvl4pPr>
              <a:defRPr sz="975" b="1">
                <a:solidFill>
                  <a:srgbClr val="B8C8DD"/>
                </a:solidFill>
              </a:defRPr>
            </a:lvl4pPr>
            <a:lvl5pPr>
              <a:defRPr sz="975" b="1">
                <a:solidFill>
                  <a:srgbClr val="B8C8DD"/>
                </a:solidFill>
              </a:defRPr>
            </a:lvl5pPr>
            <a:lvl6pPr>
              <a:defRPr sz="975" b="1">
                <a:solidFill>
                  <a:srgbClr val="B8C8DD"/>
                </a:solidFill>
              </a:defRPr>
            </a:lvl6pPr>
            <a:lvl7pPr>
              <a:defRPr sz="975" b="1">
                <a:solidFill>
                  <a:srgbClr val="B8C8DD"/>
                </a:solidFill>
              </a:defRPr>
            </a:lvl7pPr>
            <a:lvl8pPr>
              <a:defRPr sz="975" b="1">
                <a:solidFill>
                  <a:srgbClr val="B8C8DD"/>
                </a:solidFill>
              </a:defRPr>
            </a:lvl8pPr>
            <a:lvl9pPr>
              <a:defRPr sz="975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8C8DD"/>
                </a:solidFill>
              </a:defRPr>
            </a:pPr>
            <a:r>
              <a:rPr sz="975" b="1">
                <a:solidFill>
                  <a:srgbClr val="B8C8DD"/>
                </a:solidFill>
              </a:rPr>
              <a:t>ADVANCED MARKETING DRAFT 2.2  |  24 OCT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72896-ABA7-4917-BDD6-0C12E3DA2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1b6a756df410e"/>
          <a:stretch xmlns:a="http://schemas.openxmlformats.org/drawingml/2006/main"/>
        </p:blipFill>
        <p:spPr>
          <a:xfrm xmlns:a="http://schemas.openxmlformats.org/drawingml/2006/main">
            <a:off x="5953125" y="1348978"/>
            <a:ext cx="5619750" cy="35123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B1147-44FF-4781-A06E-1A8D0AD2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387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8C8DD"/>
                </a:solidFill>
              </a:defRPr>
            </a:defPPr>
            <a:lvl1pPr>
              <a:defRPr sz="1050" b="0">
                <a:solidFill>
                  <a:srgbClr val="B8C8DD"/>
                </a:solidFill>
              </a:defRPr>
            </a:lvl1pPr>
            <a:lvl2pPr>
              <a:defRPr sz="1050" b="0">
                <a:solidFill>
                  <a:srgbClr val="B8C8DD"/>
                </a:solidFill>
              </a:defRPr>
            </a:lvl2pPr>
            <a:lvl3pPr>
              <a:defRPr sz="1050" b="0">
                <a:solidFill>
                  <a:srgbClr val="B8C8DD"/>
                </a:solidFill>
              </a:defRPr>
            </a:lvl3pPr>
            <a:lvl4pPr>
              <a:defRPr sz="1050" b="0">
                <a:solidFill>
                  <a:srgbClr val="B8C8DD"/>
                </a:solidFill>
              </a:defRPr>
            </a:lvl4pPr>
            <a:lvl5pPr>
              <a:defRPr sz="1050" b="0">
                <a:solidFill>
                  <a:srgbClr val="B8C8DD"/>
                </a:solidFill>
              </a:defRPr>
            </a:lvl5pPr>
            <a:lvl6pPr>
              <a:defRPr sz="1050" b="0">
                <a:solidFill>
                  <a:srgbClr val="B8C8DD"/>
                </a:solidFill>
              </a:defRPr>
            </a:lvl6pPr>
            <a:lvl7pPr>
              <a:defRPr sz="1050" b="0">
                <a:solidFill>
                  <a:srgbClr val="B8C8DD"/>
                </a:solidFill>
              </a:defRPr>
            </a:lvl7pPr>
            <a:lvl8pPr>
              <a:defRPr sz="1050" b="0">
                <a:solidFill>
                  <a:srgbClr val="B8C8DD"/>
                </a:solidFill>
              </a:defRPr>
            </a:lvl8pPr>
            <a:lvl9pPr>
              <a:defRPr sz="1050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8C8DD"/>
                </a:solidFill>
              </a:defRPr>
            </a:pPr>
            <a:r>
              <a:rPr sz="1050" b="0">
                <a:solidFill>
                  <a:srgbClr val="B8C8DD"/>
                </a:solidFill>
              </a:rPr>
              <a:t>Fictional local data. Reference branding shown; external use requires brand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3B314-EB7D-40D5-857E-F94B8D1F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8C8DD"/>
                </a:solidFill>
              </a:defRPr>
            </a:defPPr>
            <a:lvl1pPr>
              <a:defRPr sz="900" b="1">
                <a:solidFill>
                  <a:srgbClr val="B8C8DD"/>
                </a:solidFill>
              </a:defRPr>
            </a:lvl1pPr>
            <a:lvl2pPr>
              <a:defRPr sz="900" b="1">
                <a:solidFill>
                  <a:srgbClr val="B8C8DD"/>
                </a:solidFill>
              </a:defRPr>
            </a:lvl2pPr>
            <a:lvl3pPr>
              <a:defRPr sz="900" b="1">
                <a:solidFill>
                  <a:srgbClr val="B8C8DD"/>
                </a:solidFill>
              </a:defRPr>
            </a:lvl3pPr>
            <a:lvl4pPr>
              <a:defRPr sz="900" b="1">
                <a:solidFill>
                  <a:srgbClr val="B8C8DD"/>
                </a:solidFill>
              </a:defRPr>
            </a:lvl4pPr>
            <a:lvl5pPr>
              <a:defRPr sz="900" b="1">
                <a:solidFill>
                  <a:srgbClr val="B8C8DD"/>
                </a:solidFill>
              </a:defRPr>
            </a:lvl5pPr>
            <a:lvl6pPr>
              <a:defRPr sz="900" b="1">
                <a:solidFill>
                  <a:srgbClr val="B8C8DD"/>
                </a:solidFill>
              </a:defRPr>
            </a:lvl6pPr>
            <a:lvl7pPr>
              <a:defRPr sz="900" b="1">
                <a:solidFill>
                  <a:srgbClr val="B8C8DD"/>
                </a:solidFill>
              </a:defRPr>
            </a:lvl7pPr>
            <a:lvl8pPr>
              <a:defRPr sz="900" b="1">
                <a:solidFill>
                  <a:srgbClr val="B8C8DD"/>
                </a:solidFill>
              </a:defRPr>
            </a:lvl8pPr>
            <a:lvl9pPr>
              <a:defRPr sz="900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8C8DD"/>
                </a:solidFill>
              </a:defRPr>
            </a:pPr>
            <a:r>
              <a:rPr sz="900" b="1">
                <a:solidFill>
                  <a:srgbClr val="B8C8D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7156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50741-369F-4E9C-8313-438AB3D0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A0605-9233-4048-A197-FCA79C59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Service reviews need evidence across four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383E8-4515-4C6C-AD6E-95866CEC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DFF00-A3C7-48D7-BA34-2A9E722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4865B-EDAE-453D-A0CF-33E95936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18324-BC75-4F79-A048-EDA3389B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A78D6"/>
                </a:solidFill>
              </a:defRPr>
            </a:defPPr>
            <a:lvl1pPr>
              <a:defRPr sz="2025" b="1">
                <a:solidFill>
                  <a:srgbClr val="2A78D6"/>
                </a:solidFill>
              </a:defRPr>
            </a:lvl1pPr>
            <a:lvl2pPr>
              <a:defRPr sz="2025" b="1">
                <a:solidFill>
                  <a:srgbClr val="2A78D6"/>
                </a:solidFill>
              </a:defRPr>
            </a:lvl2pPr>
            <a:lvl3pPr>
              <a:defRPr sz="2025" b="1">
                <a:solidFill>
                  <a:srgbClr val="2A78D6"/>
                </a:solidFill>
              </a:defRPr>
            </a:lvl3pPr>
            <a:lvl4pPr>
              <a:defRPr sz="2025" b="1">
                <a:solidFill>
                  <a:srgbClr val="2A78D6"/>
                </a:solidFill>
              </a:defRPr>
            </a:lvl4pPr>
            <a:lvl5pPr>
              <a:defRPr sz="2025" b="1">
                <a:solidFill>
                  <a:srgbClr val="2A78D6"/>
                </a:solidFill>
              </a:defRPr>
            </a:lvl5pPr>
            <a:lvl6pPr>
              <a:defRPr sz="2025" b="1">
                <a:solidFill>
                  <a:srgbClr val="2A78D6"/>
                </a:solidFill>
              </a:defRPr>
            </a:lvl6pPr>
            <a:lvl7pPr>
              <a:defRPr sz="2025" b="1">
                <a:solidFill>
                  <a:srgbClr val="2A78D6"/>
                </a:solidFill>
              </a:defRPr>
            </a:lvl7pPr>
            <a:lvl8pPr>
              <a:defRPr sz="2025" b="1">
                <a:solidFill>
                  <a:srgbClr val="2A78D6"/>
                </a:solidFill>
              </a:defRPr>
            </a:lvl8pPr>
            <a:lvl9pPr>
              <a:defRPr sz="20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A78D6"/>
                </a:solidFill>
              </a:defRPr>
            </a:pPr>
            <a:r>
              <a:rPr sz="2025" b="1">
                <a:solidFill>
                  <a:srgbClr val="2A78D6"/>
                </a:solidFill>
              </a:rPr>
              <a:t>A service decision connects obligation, work and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A8EB0-1E65-44C7-9383-7BD6FD56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104D1-73AE-43BC-8ADE-EA6F911F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45630-5E40-4D23-A9D7-78FD23F2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EDC8F-EAB0-4053-BB97-1676B702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171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Which signed terms, dates and scope apply?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9AF79-F003-49C3-9454-9B5212EC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9F5B6-E4EB-4388-8142-DEC0B33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FF31E-9BD7-40E2-BDF3-57EC1C55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SLA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B1CC7-A3A8-4B06-8CFE-801E5307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171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What target, event evidence and clock state apply?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64907-BDED-41A8-8323-4110B26C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CAF96-D7CF-4BC5-BADD-A8AF1827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487E5-6647-47C1-AE9B-C2840CC2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ITSM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7B623-5AEE-445A-8674-A3F7442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171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Who owns response, next step, escalation and handover?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48BB0-1068-4FCE-AA1A-62649AF5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27241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65206-2B34-445B-BEF5-E38841F2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96365-2320-4C9A-9C7F-35D324E4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Finance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48E3B-41D0-413F-B7C3-6425DC54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324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What exposure needs independent reconciliation?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3BA23-9CE5-4D19-880A-58C47AA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9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223F"/>
                </a:solidFill>
              </a:defRPr>
            </a:defPPr>
            <a:lvl1pPr>
              <a:defRPr sz="1575" b="1">
                <a:solidFill>
                  <a:srgbClr val="14223F"/>
                </a:solidFill>
              </a:defRPr>
            </a:lvl1pPr>
            <a:lvl2pPr>
              <a:defRPr sz="1575" b="1">
                <a:solidFill>
                  <a:srgbClr val="14223F"/>
                </a:solidFill>
              </a:defRPr>
            </a:lvl2pPr>
            <a:lvl3pPr>
              <a:defRPr sz="1575" b="1">
                <a:solidFill>
                  <a:srgbClr val="14223F"/>
                </a:solidFill>
              </a:defRPr>
            </a:lvl3pPr>
            <a:lvl4pPr>
              <a:defRPr sz="1575" b="1">
                <a:solidFill>
                  <a:srgbClr val="14223F"/>
                </a:solidFill>
              </a:defRPr>
            </a:lvl4pPr>
            <a:lvl5pPr>
              <a:defRPr sz="1575" b="1">
                <a:solidFill>
                  <a:srgbClr val="14223F"/>
                </a:solidFill>
              </a:defRPr>
            </a:lvl5pPr>
            <a:lvl6pPr>
              <a:defRPr sz="1575" b="1">
                <a:solidFill>
                  <a:srgbClr val="14223F"/>
                </a:solidFill>
              </a:defRPr>
            </a:lvl6pPr>
            <a:lvl7pPr>
              <a:defRPr sz="1575" b="1">
                <a:solidFill>
                  <a:srgbClr val="14223F"/>
                </a:solidFill>
              </a:defRPr>
            </a:lvl7pPr>
            <a:lvl8pPr>
              <a:defRPr sz="1575" b="1">
                <a:solidFill>
                  <a:srgbClr val="14223F"/>
                </a:solidFill>
              </a:defRPr>
            </a:lvl8pPr>
            <a:lvl9pPr>
              <a:defRPr sz="157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223F"/>
                </a:solidFill>
              </a:defRPr>
            </a:pPr>
            <a:r>
              <a:rPr sz="1575" b="1">
                <a:solidFill>
                  <a:srgbClr val="14223F"/>
                </a:solidFill>
              </a:rPr>
              <a:t>TIO Hub connects records; authorized owners decide contract interpretation and financial disposition.</a:t>
            </a:r>
          </a:p>
        </p:txBody>
      </p:sp>
    </p:spTree>
    <p:extLst>
      <p:ext uri="{BB962C8B-B14F-4D97-AF65-F5344CB8AC3E}">
        <p14:creationId xmlns:p14="http://schemas.microsoft.com/office/powerpoint/2010/main" val="1855311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1F5F9A-80F4-4016-8DA3-C74D943F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48F5E-2315-4356-80D5-4885DC4A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A controlled contract-to-service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B9ECA-A6E3-47DA-86C1-5B3EA34B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1E8FC-9E40-499E-B5E6-9CCB585C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D74BD-77AE-4C63-BCEE-4CABB62A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41817-CC68-42EC-BD3A-A7D33F93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A78D6"/>
                </a:solidFill>
              </a:defRPr>
            </a:defPPr>
            <a:lvl1pPr>
              <a:defRPr sz="1800" b="1">
                <a:solidFill>
                  <a:srgbClr val="2A78D6"/>
                </a:solidFill>
              </a:defRPr>
            </a:lvl1pPr>
            <a:lvl2pPr>
              <a:defRPr sz="1800" b="1">
                <a:solidFill>
                  <a:srgbClr val="2A78D6"/>
                </a:solidFill>
              </a:defRPr>
            </a:lvl2pPr>
            <a:lvl3pPr>
              <a:defRPr sz="1800" b="1">
                <a:solidFill>
                  <a:srgbClr val="2A78D6"/>
                </a:solidFill>
              </a:defRPr>
            </a:lvl3pPr>
            <a:lvl4pPr>
              <a:defRPr sz="1800" b="1">
                <a:solidFill>
                  <a:srgbClr val="2A78D6"/>
                </a:solidFill>
              </a:defRPr>
            </a:lvl4pPr>
            <a:lvl5pPr>
              <a:defRPr sz="1800" b="1">
                <a:solidFill>
                  <a:srgbClr val="2A78D6"/>
                </a:solidFill>
              </a:defRPr>
            </a:lvl5pPr>
            <a:lvl6pPr>
              <a:defRPr sz="1800" b="1">
                <a:solidFill>
                  <a:srgbClr val="2A78D6"/>
                </a:solidFill>
              </a:defRPr>
            </a:lvl6pPr>
            <a:lvl7pPr>
              <a:defRPr sz="1800" b="1">
                <a:solidFill>
                  <a:srgbClr val="2A78D6"/>
                </a:solidFill>
              </a:defRPr>
            </a:lvl7pPr>
            <a:lvl8pPr>
              <a:defRPr sz="1800" b="1">
                <a:solidFill>
                  <a:srgbClr val="2A78D6"/>
                </a:solidFill>
              </a:defRPr>
            </a:lvl8pPr>
            <a:lvl9pPr>
              <a:defRPr sz="1800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A78D6"/>
                </a:solidFill>
              </a:defRPr>
            </a:pPr>
            <a:r>
              <a:rPr sz="1800" b="1">
                <a:solidFill>
                  <a:srgbClr val="2A78D6"/>
                </a:solidFill>
              </a:rPr>
              <a:t>Eight gates keep records, service decisions and finance review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AF92B-DE72-46D8-8D5F-321C9C03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61960-56B2-4698-8106-F523808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BD1C5-2635-4949-947F-66A88122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1  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D0482-A8B8-42E5-A020-0E782934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Executed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7D0D6-8F1A-42D5-B038-CA32C2A1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0B305-F1E0-474B-A910-E3F758A2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08D3E-D71A-4620-AE7F-6B5C4904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1457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2 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A3F61-4FA0-4455-A00B-5A60AD83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336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Scope and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C75A5-6F6D-4929-9E06-A764F45D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51815-F483-4B4E-965C-F22F103A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D8262-A696-4265-999A-3CFFCF93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1457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3  Configure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7C76C-4C70-4C5B-AF69-B95E0EBD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Independent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9F849-9BB3-4F14-9059-06ABCEF2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A5B2C-D1B3-42D1-B638-91123E9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94235-7E4A-4B59-B9A6-1AF6B6C6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1457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4  Associate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E5ECD-1D0D-4A1B-82C4-FF50AD9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Eligible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9CA54-376B-4552-B29B-8B2E116A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EF514-9D07-4DD5-A579-FAA1FEAD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1027A-BBC1-4D37-A8F1-2DF750A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5  Operate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69D94-C181-4C9E-8006-ABEB24FD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Events and owner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B8106-C814-4C62-AB10-59648B78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100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2200A-B2AB-491C-BF69-A28E0DC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10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5917D1-6B82-4556-9DFF-8D3B8283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6 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94FC7-C922-47DC-98CD-D241196E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Metrics and exceptions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A23EBC-AE8B-4D58-AE20-E9F13429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8B049-37F9-4921-BBC1-21CAEF2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7C202-D94C-44C4-979C-9F69616F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7  Reconcile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A43747-8A11-4D07-8072-DD7BC4E0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Finance approval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086FA5-064B-426C-A289-EA7BC3B2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00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44FCF3-A70C-4CAA-8EF9-CDB0362D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0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E9B146-AA1D-4059-9F47-A61540E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814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8  Amend / close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BDF8A4-2017-4A53-BA3B-EB4BC36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Transition 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653E34-99E5-4970-99DB-2B2D36B7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177"/>
                </a:solidFill>
              </a:defRPr>
            </a:defPPr>
            <a:lvl1pPr>
              <a:defRPr sz="1275" b="0">
                <a:solidFill>
                  <a:srgbClr val="536177"/>
                </a:solidFill>
              </a:defRPr>
            </a:lvl1pPr>
            <a:lvl2pPr>
              <a:defRPr sz="1275" b="0">
                <a:solidFill>
                  <a:srgbClr val="536177"/>
                </a:solidFill>
              </a:defRPr>
            </a:lvl2pPr>
            <a:lvl3pPr>
              <a:defRPr sz="1275" b="0">
                <a:solidFill>
                  <a:srgbClr val="536177"/>
                </a:solidFill>
              </a:defRPr>
            </a:lvl3pPr>
            <a:lvl4pPr>
              <a:defRPr sz="1275" b="0">
                <a:solidFill>
                  <a:srgbClr val="536177"/>
                </a:solidFill>
              </a:defRPr>
            </a:lvl4pPr>
            <a:lvl5pPr>
              <a:defRPr sz="1275" b="0">
                <a:solidFill>
                  <a:srgbClr val="536177"/>
                </a:solidFill>
              </a:defRPr>
            </a:lvl5pPr>
            <a:lvl6pPr>
              <a:defRPr sz="1275" b="0">
                <a:solidFill>
                  <a:srgbClr val="536177"/>
                </a:solidFill>
              </a:defRPr>
            </a:lvl6pPr>
            <a:lvl7pPr>
              <a:defRPr sz="1275" b="0">
                <a:solidFill>
                  <a:srgbClr val="536177"/>
                </a:solidFill>
              </a:defRPr>
            </a:lvl7pPr>
            <a:lvl8pPr>
              <a:defRPr sz="1275" b="0">
                <a:solidFill>
                  <a:srgbClr val="536177"/>
                </a:solidFill>
              </a:defRPr>
            </a:lvl8pPr>
            <a:lvl9pPr>
              <a:defRPr sz="127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177"/>
                </a:solidFill>
              </a:defRPr>
            </a:pPr>
            <a:r>
              <a:rPr sz="1275" b="0">
                <a:solidFill>
                  <a:srgbClr val="536177"/>
                </a:solidFill>
              </a:rPr>
              <a:t>Gate exits require named evidence and an accountable role; local approval rules define authority thresholds.</a:t>
            </a:r>
          </a:p>
        </p:txBody>
      </p:sp>
    </p:spTree>
    <p:extLst>
      <p:ext uri="{BB962C8B-B14F-4D97-AF65-F5344CB8AC3E}">
        <p14:creationId xmlns:p14="http://schemas.microsoft.com/office/powerpoint/2010/main" val="4920529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85E84-48AB-4525-9496-4819C95D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0FCD4-4F3F-4541-9D1F-4AC3195D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Client and environment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1EE57-8BBE-495E-9501-48350A8A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324F4-DFA2-4A74-844E-F3CC646B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C4C59-C220-48F2-A85D-1F384937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DE96A-B18E-45A4-8593-13CDBC61E8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d6a76d5c44c3c"/>
          <a:stretch xmlns:a="http://schemas.openxmlformats.org/drawingml/2006/main"/>
        </p:blipFill>
        <p:spPr>
          <a:xfrm xmlns:a="http://schemas.openxmlformats.org/drawingml/2006/main">
            <a:off x="833438" y="1666875"/>
            <a:ext cx="64008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AA6D8-76E2-4552-B5B4-27E67214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Keep related records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B031C-5969-4CAD-984E-8BEDFF82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81275"/>
            <a:ext cx="3333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23F"/>
                </a:solidFill>
              </a:defRPr>
            </a:defPPr>
            <a:lvl1pPr>
              <a:defRPr sz="1500" b="0">
                <a:solidFill>
                  <a:srgbClr val="14223F"/>
                </a:solidFill>
              </a:defRPr>
            </a:lvl1pPr>
            <a:lvl2pPr>
              <a:defRPr sz="1500" b="0">
                <a:solidFill>
                  <a:srgbClr val="14223F"/>
                </a:solidFill>
              </a:defRPr>
            </a:lvl2pPr>
            <a:lvl3pPr>
              <a:defRPr sz="1500" b="0">
                <a:solidFill>
                  <a:srgbClr val="14223F"/>
                </a:solidFill>
              </a:defRPr>
            </a:lvl3pPr>
            <a:lvl4pPr>
              <a:defRPr sz="1500" b="0">
                <a:solidFill>
                  <a:srgbClr val="14223F"/>
                </a:solidFill>
              </a:defRPr>
            </a:lvl4pPr>
            <a:lvl5pPr>
              <a:defRPr sz="1500" b="0">
                <a:solidFill>
                  <a:srgbClr val="14223F"/>
                </a:solidFill>
              </a:defRPr>
            </a:lvl5pPr>
            <a:lvl6pPr>
              <a:defRPr sz="1500" b="0">
                <a:solidFill>
                  <a:srgbClr val="14223F"/>
                </a:solidFill>
              </a:defRPr>
            </a:lvl6pPr>
            <a:lvl7pPr>
              <a:defRPr sz="1500" b="0">
                <a:solidFill>
                  <a:srgbClr val="14223F"/>
                </a:solidFill>
              </a:defRPr>
            </a:lvl7pPr>
            <a:lvl8pPr>
              <a:defRPr sz="1500" b="0">
                <a:solidFill>
                  <a:srgbClr val="14223F"/>
                </a:solidFill>
              </a:defRPr>
            </a:lvl8pPr>
            <a:lvl9pPr>
              <a:defRPr sz="150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Clients, projects and environments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Products, versions and infrastructure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Reported condition with evidence 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Contacts and responsibility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8D3BA-709C-443F-939E-B869E4F4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177"/>
                </a:solidFill>
              </a:defRPr>
            </a:defPPr>
            <a:lvl1pPr>
              <a:defRPr sz="1125" b="0">
                <a:solidFill>
                  <a:srgbClr val="536177"/>
                </a:solidFill>
              </a:defRPr>
            </a:lvl1pPr>
            <a:lvl2pPr>
              <a:defRPr sz="1125" b="0">
                <a:solidFill>
                  <a:srgbClr val="536177"/>
                </a:solidFill>
              </a:defRPr>
            </a:lvl2pPr>
            <a:lvl3pPr>
              <a:defRPr sz="1125" b="0">
                <a:solidFill>
                  <a:srgbClr val="536177"/>
                </a:solidFill>
              </a:defRPr>
            </a:lvl3pPr>
            <a:lvl4pPr>
              <a:defRPr sz="1125" b="0">
                <a:solidFill>
                  <a:srgbClr val="536177"/>
                </a:solidFill>
              </a:defRPr>
            </a:lvl4pPr>
            <a:lvl5pPr>
              <a:defRPr sz="1125" b="0">
                <a:solidFill>
                  <a:srgbClr val="536177"/>
                </a:solidFill>
              </a:defRPr>
            </a:lvl5pPr>
            <a:lvl6pPr>
              <a:defRPr sz="1125" b="0">
                <a:solidFill>
                  <a:srgbClr val="536177"/>
                </a:solidFill>
              </a:defRPr>
            </a:lvl6pPr>
            <a:lvl7pPr>
              <a:defRPr sz="1125" b="0">
                <a:solidFill>
                  <a:srgbClr val="536177"/>
                </a:solidFill>
              </a:defRPr>
            </a:lvl7pPr>
            <a:lvl8pPr>
              <a:defRPr sz="1125" b="0">
                <a:solidFill>
                  <a:srgbClr val="536177"/>
                </a:solidFill>
              </a:defRPr>
            </a:lvl8pPr>
            <a:lvl9pPr>
              <a:defRPr sz="112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177"/>
                </a:solidFill>
              </a:defRPr>
            </a:pPr>
            <a:r>
              <a:rPr sz="1125" b="0">
                <a:solidFill>
                  <a:srgbClr val="536177"/>
                </a:solidFill>
              </a:rPr>
              <a:t>Records are maintained by users; the system does not discover or monitor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55106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EC6E3-BBF7-4C7F-A60A-4502E6C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279E5-89BE-4027-A5A4-7EA90CE5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ITSM work stays owned and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20A17-C63B-49F3-9019-89A8EC70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E6998-959E-452E-904C-49750056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41281-0D16-4309-AAC9-5B0EE773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6AC22-6FDD-4876-9D97-20DA777C7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65bd9e04243cb"/>
          <a:stretch xmlns:a="http://schemas.openxmlformats.org/drawingml/2006/main"/>
        </p:blipFill>
        <p:spPr>
          <a:xfrm xmlns:a="http://schemas.openxmlformats.org/drawingml/2006/main">
            <a:off x="1019175" y="1666875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12EB9-A374-4759-967C-889B7D5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Work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ABEAD-35CE-47F8-8CE0-44AD35D7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95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23F"/>
                </a:solidFill>
              </a:defRPr>
            </a:defPPr>
            <a:lvl1pPr>
              <a:defRPr sz="1350" b="0">
                <a:solidFill>
                  <a:srgbClr val="14223F"/>
                </a:solidFill>
              </a:defRPr>
            </a:lvl1pPr>
            <a:lvl2pPr>
              <a:defRPr sz="1350" b="0">
                <a:solidFill>
                  <a:srgbClr val="14223F"/>
                </a:solidFill>
              </a:defRPr>
            </a:lvl2pPr>
            <a:lvl3pPr>
              <a:defRPr sz="1350" b="0">
                <a:solidFill>
                  <a:srgbClr val="14223F"/>
                </a:solidFill>
              </a:defRPr>
            </a:lvl3pPr>
            <a:lvl4pPr>
              <a:defRPr sz="1350" b="0">
                <a:solidFill>
                  <a:srgbClr val="14223F"/>
                </a:solidFill>
              </a:defRPr>
            </a:lvl4pPr>
            <a:lvl5pPr>
              <a:defRPr sz="1350" b="0">
                <a:solidFill>
                  <a:srgbClr val="14223F"/>
                </a:solidFill>
              </a:defRPr>
            </a:lvl5pPr>
            <a:lvl6pPr>
              <a:defRPr sz="1350" b="0">
                <a:solidFill>
                  <a:srgbClr val="14223F"/>
                </a:solidFill>
              </a:defRPr>
            </a:lvl6pPr>
            <a:lvl7pPr>
              <a:defRPr sz="1350" b="0">
                <a:solidFill>
                  <a:srgbClr val="14223F"/>
                </a:solidFill>
              </a:defRPr>
            </a:lvl7pPr>
            <a:lvl8pPr>
              <a:defRPr sz="1350" b="0">
                <a:solidFill>
                  <a:srgbClr val="14223F"/>
                </a:solidFill>
              </a:defRPr>
            </a:lvl8pPr>
            <a:lvl9pPr>
              <a:defRPr sz="135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Affected service context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Owner, priority and impact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Next action and due time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Status and event history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Commitments and escalation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Manual Jira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84E2D-042A-46CC-B041-FEDD48BC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29200"/>
            <a:ext cx="30480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0D8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3695C-9FEE-4B04-83AC-357CD4B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1017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4223F"/>
                </a:solidFill>
              </a:defRPr>
            </a:defPPr>
            <a:lvl1pPr>
              <a:defRPr sz="1200" b="1">
                <a:solidFill>
                  <a:srgbClr val="14223F"/>
                </a:solidFill>
              </a:defRPr>
            </a:lvl1pPr>
            <a:lvl2pPr>
              <a:defRPr sz="1200" b="1">
                <a:solidFill>
                  <a:srgbClr val="14223F"/>
                </a:solidFill>
              </a:defRPr>
            </a:lvl2pPr>
            <a:lvl3pPr>
              <a:defRPr sz="1200" b="1">
                <a:solidFill>
                  <a:srgbClr val="14223F"/>
                </a:solidFill>
              </a:defRPr>
            </a:lvl3pPr>
            <a:lvl4pPr>
              <a:defRPr sz="1200" b="1">
                <a:solidFill>
                  <a:srgbClr val="14223F"/>
                </a:solidFill>
              </a:defRPr>
            </a:lvl4pPr>
            <a:lvl5pPr>
              <a:defRPr sz="1200" b="1">
                <a:solidFill>
                  <a:srgbClr val="14223F"/>
                </a:solidFill>
              </a:defRPr>
            </a:lvl5pPr>
            <a:lvl6pPr>
              <a:defRPr sz="1200" b="1">
                <a:solidFill>
                  <a:srgbClr val="14223F"/>
                </a:solidFill>
              </a:defRPr>
            </a:lvl6pPr>
            <a:lvl7pPr>
              <a:defRPr sz="1200" b="1">
                <a:solidFill>
                  <a:srgbClr val="14223F"/>
                </a:solidFill>
              </a:defRPr>
            </a:lvl7pPr>
            <a:lvl8pPr>
              <a:defRPr sz="1200" b="1">
                <a:solidFill>
                  <a:srgbClr val="14223F"/>
                </a:solidFill>
              </a:defRPr>
            </a:lvl8pPr>
            <a:lvl9pPr>
              <a:defRPr sz="120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223F"/>
                </a:solidFill>
              </a:defRPr>
            </a:pPr>
            <a:r>
              <a:rPr sz="1200" b="1">
                <a:solidFill>
                  <a:srgbClr val="14223F"/>
                </a:solidFill>
              </a:rPr>
              <a:t>Handover and coverage keep accountability visible.</a:t>
            </a:r>
          </a:p>
        </p:txBody>
      </p:sp>
    </p:spTree>
    <p:extLst>
      <p:ext uri="{BB962C8B-B14F-4D97-AF65-F5344CB8AC3E}">
        <p14:creationId xmlns:p14="http://schemas.microsoft.com/office/powerpoint/2010/main" val="1661010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8D361-2853-4067-BB43-1A2A01F1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4B1E4-3745-4B7D-90FE-9B0D20B4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Measure the obligation; review exposure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2476F-B9B7-4F94-BF13-663BC68A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8E554-74B3-4C8A-9225-31C6B03E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21E64-FCCF-44C0-A367-ABB63312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FFFDF-C3D5-4471-BF44-6C341AF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76ADC-6C60-4057-B7FF-B41FBC76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E4EA0-0A7C-4785-8122-D7A1FA5E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1  Verify the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365B1-E491-4940-8185-A3A8E427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Same-client contract, dates, target, support window and pause rule.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45C94-0445-4965-A494-D4466DB2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77DDD-02A9-4034-9BBE-07B140FE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06CD3-E4A4-4C76-95DB-4D627782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2  Operate the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82650-F5B5-4DA2-8F56-92AF539B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Record actual response, resolution and customer-wait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7A8D5-129E-41F5-9020-B2D8AEBD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37F98-AAF8-4F4E-8933-0A1C149D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5C16D-72AD-4471-A2E2-7A2934E8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3  Reconcile candidates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022E1-978D-4822-9551-4C77F6C7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Finance checks clause, term cohort, cap, corrections and approvals.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1CBA0-E077-46CE-811A-DB7EADC6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4223F"/>
                </a:solidFill>
              </a:defRPr>
            </a:defPPr>
            <a:lvl1pPr>
              <a:defRPr sz="1500" b="1">
                <a:solidFill>
                  <a:srgbClr val="14223F"/>
                </a:solidFill>
              </a:defRPr>
            </a:lvl1pPr>
            <a:lvl2pPr>
              <a:defRPr sz="1500" b="1">
                <a:solidFill>
                  <a:srgbClr val="14223F"/>
                </a:solidFill>
              </a:defRPr>
            </a:lvl2pPr>
            <a:lvl3pPr>
              <a:defRPr sz="1500" b="1">
                <a:solidFill>
                  <a:srgbClr val="14223F"/>
                </a:solidFill>
              </a:defRPr>
            </a:lvl3pPr>
            <a:lvl4pPr>
              <a:defRPr sz="1500" b="1">
                <a:solidFill>
                  <a:srgbClr val="14223F"/>
                </a:solidFill>
              </a:defRPr>
            </a:lvl4pPr>
            <a:lvl5pPr>
              <a:defRPr sz="1500" b="1">
                <a:solidFill>
                  <a:srgbClr val="14223F"/>
                </a:solidFill>
              </a:defRPr>
            </a:lvl5pPr>
            <a:lvl6pPr>
              <a:defRPr sz="1500" b="1">
                <a:solidFill>
                  <a:srgbClr val="14223F"/>
                </a:solidFill>
              </a:defRPr>
            </a:lvl6pPr>
            <a:lvl7pPr>
              <a:defRPr sz="1500" b="1">
                <a:solidFill>
                  <a:srgbClr val="14223F"/>
                </a:solidFill>
              </a:defRPr>
            </a:lvl7pPr>
            <a:lvl8pPr>
              <a:defRPr sz="1500" b="1">
                <a:solidFill>
                  <a:srgbClr val="14223F"/>
                </a:solidFill>
              </a:defRPr>
            </a:lvl8pPr>
            <a:lvl9pPr>
              <a:defRPr sz="150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23F"/>
                </a:solidFill>
              </a:defRPr>
            </a:pPr>
            <a:r>
              <a:rPr sz="1500" b="1">
                <a:solidFill>
                  <a:srgbClr val="14223F"/>
                </a:solidFill>
              </a:rPr>
              <a:t>Rates exclude pending and not-measurable obligations; at-risk is a 24-hour warning.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25696-0877-40A0-AE55-B1790B47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177"/>
                </a:solidFill>
              </a:defRPr>
            </a:defPPr>
            <a:lvl1pPr>
              <a:defRPr sz="1275" b="0">
                <a:solidFill>
                  <a:srgbClr val="536177"/>
                </a:solidFill>
              </a:defRPr>
            </a:lvl1pPr>
            <a:lvl2pPr>
              <a:defRPr sz="1275" b="0">
                <a:solidFill>
                  <a:srgbClr val="536177"/>
                </a:solidFill>
              </a:defRPr>
            </a:lvl2pPr>
            <a:lvl3pPr>
              <a:defRPr sz="1275" b="0">
                <a:solidFill>
                  <a:srgbClr val="536177"/>
                </a:solidFill>
              </a:defRPr>
            </a:lvl3pPr>
            <a:lvl4pPr>
              <a:defRPr sz="1275" b="0">
                <a:solidFill>
                  <a:srgbClr val="536177"/>
                </a:solidFill>
              </a:defRPr>
            </a:lvl4pPr>
            <a:lvl5pPr>
              <a:defRPr sz="1275" b="0">
                <a:solidFill>
                  <a:srgbClr val="536177"/>
                </a:solidFill>
              </a:defRPr>
            </a:lvl5pPr>
            <a:lvl6pPr>
              <a:defRPr sz="1275" b="0">
                <a:solidFill>
                  <a:srgbClr val="536177"/>
                </a:solidFill>
              </a:defRPr>
            </a:lvl6pPr>
            <a:lvl7pPr>
              <a:defRPr sz="1275" b="0">
                <a:solidFill>
                  <a:srgbClr val="536177"/>
                </a:solidFill>
              </a:defRPr>
            </a:lvl7pPr>
            <a:lvl8pPr>
              <a:defRPr sz="1275" b="0">
                <a:solidFill>
                  <a:srgbClr val="536177"/>
                </a:solidFill>
              </a:defRPr>
            </a:lvl8pPr>
            <a:lvl9pPr>
              <a:defRPr sz="127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177"/>
                </a:solidFill>
              </a:defRPr>
            </a:pPr>
            <a:r>
              <a:rPr sz="1275" b="0">
                <a:solidFill>
                  <a:srgbClr val="536177"/>
                </a:solidFill>
              </a:rPr>
              <a:t>Assessments are indicative only. No invoice, payment, credit or accounting settlement.</a:t>
            </a:r>
          </a:p>
        </p:txBody>
      </p:sp>
    </p:spTree>
    <p:extLst>
      <p:ext uri="{BB962C8B-B14F-4D97-AF65-F5344CB8AC3E}">
        <p14:creationId xmlns:p14="http://schemas.microsoft.com/office/powerpoint/2010/main" val="1645776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5EC91-B1DC-4EC9-B40F-1BDF3F4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65CD3-4AFB-4CA1-A9F5-D95DE994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Reporting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21D35-6C67-4A4C-998C-2016436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24EB5-9493-4EC5-8CB4-2B1C16A2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3C0BB-BBF3-4BFA-B971-DDABF2C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B46A9-CE8C-4B55-B1BF-2786DD1D77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6b1d8eea2410b"/>
          <a:stretch xmlns:a="http://schemas.openxmlformats.org/drawingml/2006/main"/>
        </p:blipFill>
        <p:spPr>
          <a:xfrm xmlns:a="http://schemas.openxmlformats.org/drawingml/2006/main">
            <a:off x="685800" y="1619250"/>
            <a:ext cx="6096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DA876-5397-4D3D-8688-4CD68B07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Preview, filter and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885CB-4A30-4DB9-B9DE-A5885EDF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23F"/>
                </a:solidFill>
              </a:defRPr>
            </a:defPPr>
            <a:lvl1pPr>
              <a:defRPr sz="1350" b="0">
                <a:solidFill>
                  <a:srgbClr val="14223F"/>
                </a:solidFill>
              </a:defRPr>
            </a:lvl1pPr>
            <a:lvl2pPr>
              <a:defRPr sz="1350" b="0">
                <a:solidFill>
                  <a:srgbClr val="14223F"/>
                </a:solidFill>
              </a:defRPr>
            </a:lvl2pPr>
            <a:lvl3pPr>
              <a:defRPr sz="1350" b="0">
                <a:solidFill>
                  <a:srgbClr val="14223F"/>
                </a:solidFill>
              </a:defRPr>
            </a:lvl3pPr>
            <a:lvl4pPr>
              <a:defRPr sz="1350" b="0">
                <a:solidFill>
                  <a:srgbClr val="14223F"/>
                </a:solidFill>
              </a:defRPr>
            </a:lvl4pPr>
            <a:lvl5pPr>
              <a:defRPr sz="1350" b="0">
                <a:solidFill>
                  <a:srgbClr val="14223F"/>
                </a:solidFill>
              </a:defRPr>
            </a:lvl5pPr>
            <a:lvl6pPr>
              <a:defRPr sz="1350" b="0">
                <a:solidFill>
                  <a:srgbClr val="14223F"/>
                </a:solidFill>
              </a:defRPr>
            </a:lvl6pPr>
            <a:lvl7pPr>
              <a:defRPr sz="1350" b="0">
                <a:solidFill>
                  <a:srgbClr val="14223F"/>
                </a:solidFill>
              </a:defRPr>
            </a:lvl7pPr>
            <a:lvl8pPr>
              <a:defRPr sz="1350" b="0">
                <a:solidFill>
                  <a:srgbClr val="14223F"/>
                </a:solidFill>
              </a:defRPr>
            </a:lvl8pPr>
            <a:lvl9pPr>
              <a:defRPr sz="135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Server-validated filters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Access-scoped preview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CSV and Excel exports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Export history and schedules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In-hub notifications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951761C4-60E1-4F86-BBE6-C1C6AADAD646}"/>
              </a:ext>
            </a:extLst>
          </p:cNvPr>
          <p:cNvGraphicFramePr/>
          <p:nvPr/>
        </p:nvGraphicFramePr>
        <p:xfrm>
          <a:off xmlns:a="http://schemas.openxmlformats.org/drawingml/2006/main" x="7191375" y="3667125"/>
          <a:ext xmlns:a="http://schemas.openxmlformats.org/drawingml/2006/main" cx="43053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ca24b72a3d4e4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F13FF-8675-426A-9115-F2BF6EE0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340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177"/>
                </a:solidFill>
              </a:defRPr>
            </a:defPPr>
            <a:lvl1pPr>
              <a:defRPr sz="975" b="0">
                <a:solidFill>
                  <a:srgbClr val="536177"/>
                </a:solidFill>
              </a:defRPr>
            </a:lvl1pPr>
            <a:lvl2pPr>
              <a:defRPr sz="975" b="0">
                <a:solidFill>
                  <a:srgbClr val="536177"/>
                </a:solidFill>
              </a:defRPr>
            </a:lvl2pPr>
            <a:lvl3pPr>
              <a:defRPr sz="975" b="0">
                <a:solidFill>
                  <a:srgbClr val="536177"/>
                </a:solidFill>
              </a:defRPr>
            </a:lvl3pPr>
            <a:lvl4pPr>
              <a:defRPr sz="975" b="0">
                <a:solidFill>
                  <a:srgbClr val="536177"/>
                </a:solidFill>
              </a:defRPr>
            </a:lvl4pPr>
            <a:lvl5pPr>
              <a:defRPr sz="975" b="0">
                <a:solidFill>
                  <a:srgbClr val="536177"/>
                </a:solidFill>
              </a:defRPr>
            </a:lvl5pPr>
            <a:lvl6pPr>
              <a:defRPr sz="975" b="0">
                <a:solidFill>
                  <a:srgbClr val="536177"/>
                </a:solidFill>
              </a:defRPr>
            </a:lvl6pPr>
            <a:lvl7pPr>
              <a:defRPr sz="975" b="0">
                <a:solidFill>
                  <a:srgbClr val="536177"/>
                </a:solidFill>
              </a:defRPr>
            </a:lvl7pPr>
            <a:lvl8pPr>
              <a:defRPr sz="975" b="0">
                <a:solidFill>
                  <a:srgbClr val="536177"/>
                </a:solidFill>
              </a:defRPr>
            </a:lvl8pPr>
            <a:lvl9pPr>
              <a:defRPr sz="97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177"/>
                </a:solidFill>
              </a:defRPr>
            </a:pPr>
            <a:r>
              <a:rPr sz="975" b="0">
                <a:solidFill>
                  <a:srgbClr val="536177"/>
                </a:solidFill>
              </a:rPr>
              <a:t>Example data only. No customer or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962876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7BC2AC-04CE-427D-A82C-86D41875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73912-DE38-4138-8361-4540AB52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A controlled application and data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145A8-1696-47AD-B3DB-9B1EDB1D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89EBE-5AF5-4C34-A6F9-63A0EB63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4ADDC-C2C3-4F12-9B07-3BE786B6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94A06-B34A-4571-B00B-36F7F7AC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DOCUMENTED PRODUCTION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A878A-3F4C-45D7-A122-FF998AC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4EEC2-CC51-4C93-A1EC-56112D3C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25325-B313-4EC2-99CE-FCE96286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IIS and ASP.NET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D0252-630F-4D21-836C-0C908AE6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One web application serves the React interface and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3D69A-9774-4D5B-B7B7-675F0D0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8850A-DEDC-4B5D-AA42-97B55921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9FE9A-FEB4-4820-916B-070F5F16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SQL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071AA-1A03-4104-9C9A-F1664D42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Relational records, access data, audit and reporting metadata.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795D9-EC65-40BF-9AA0-97DD8C0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C306F-8ECF-4B8A-8BCD-34C8E9BF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4671E-A36F-43D3-89AD-C8884147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File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64002-F9DB-480F-B24F-C29FCFA7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Attachments and exports need matching access and backup controls.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EE1A2-6B12-4C0F-8B30-99274756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Release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CB3AD-6744-43AA-BCFA-1C47F4F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00575"/>
            <a:ext cx="695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23F"/>
                </a:solidFill>
              </a:defRPr>
            </a:defPPr>
            <a:lvl1pPr>
              <a:defRPr sz="1575" b="0">
                <a:solidFill>
                  <a:srgbClr val="14223F"/>
                </a:solidFill>
              </a:defRPr>
            </a:lvl1pPr>
            <a:lvl2pPr>
              <a:defRPr sz="1575" b="0">
                <a:solidFill>
                  <a:srgbClr val="14223F"/>
                </a:solidFill>
              </a:defRPr>
            </a:lvl2pPr>
            <a:lvl3pPr>
              <a:defRPr sz="1575" b="0">
                <a:solidFill>
                  <a:srgbClr val="14223F"/>
                </a:solidFill>
              </a:defRPr>
            </a:lvl3pPr>
            <a:lvl4pPr>
              <a:defRPr sz="1575" b="0">
                <a:solidFill>
                  <a:srgbClr val="14223F"/>
                </a:solidFill>
              </a:defRPr>
            </a:lvl4pPr>
            <a:lvl5pPr>
              <a:defRPr sz="1575" b="0">
                <a:solidFill>
                  <a:srgbClr val="14223F"/>
                </a:solidFill>
              </a:defRPr>
            </a:lvl5pPr>
            <a:lvl6pPr>
              <a:defRPr sz="1575" b="0">
                <a:solidFill>
                  <a:srgbClr val="14223F"/>
                </a:solidFill>
              </a:defRPr>
            </a:lvl6pPr>
            <a:lvl7pPr>
              <a:defRPr sz="1575" b="0">
                <a:solidFill>
                  <a:srgbClr val="14223F"/>
                </a:solidFill>
              </a:defRPr>
            </a:lvl7pPr>
            <a:lvl8pPr>
              <a:defRPr sz="1575" b="0">
                <a:solidFill>
                  <a:srgbClr val="14223F"/>
                </a:solidFill>
              </a:defRPr>
            </a:lvl8pPr>
            <a:lvl9pPr>
              <a:defRPr sz="1575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23F"/>
                </a:solidFill>
              </a:defRPr>
            </a:pPr>
            <a:r>
              <a:rPr sz="1575" b="0">
                <a:solidFill>
                  <a:srgbClr val="14223F"/>
                </a:solidFill>
              </a:rPr>
              <a:t>Match application and schema versions. DBA applies the reviewed script. Validate readiness, access, key workflows and recovery.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45457-A76D-42EE-BA7B-BD1B21D3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177"/>
                </a:solidFill>
              </a:defRPr>
            </a:defPPr>
            <a:lvl1pPr>
              <a:defRPr sz="1200" b="0">
                <a:solidFill>
                  <a:srgbClr val="536177"/>
                </a:solidFill>
              </a:defRPr>
            </a:lvl1pPr>
            <a:lvl2pPr>
              <a:defRPr sz="1200" b="0">
                <a:solidFill>
                  <a:srgbClr val="536177"/>
                </a:solidFill>
              </a:defRPr>
            </a:lvl2pPr>
            <a:lvl3pPr>
              <a:defRPr sz="1200" b="0">
                <a:solidFill>
                  <a:srgbClr val="536177"/>
                </a:solidFill>
              </a:defRPr>
            </a:lvl3pPr>
            <a:lvl4pPr>
              <a:defRPr sz="1200" b="0">
                <a:solidFill>
                  <a:srgbClr val="536177"/>
                </a:solidFill>
              </a:defRPr>
            </a:lvl4pPr>
            <a:lvl5pPr>
              <a:defRPr sz="1200" b="0">
                <a:solidFill>
                  <a:srgbClr val="536177"/>
                </a:solidFill>
              </a:defRPr>
            </a:lvl5pPr>
            <a:lvl6pPr>
              <a:defRPr sz="1200" b="0">
                <a:solidFill>
                  <a:srgbClr val="536177"/>
                </a:solidFill>
              </a:defRPr>
            </a:lvl6pPr>
            <a:lvl7pPr>
              <a:defRPr sz="1200" b="0">
                <a:solidFill>
                  <a:srgbClr val="536177"/>
                </a:solidFill>
              </a:defRPr>
            </a:lvl7pPr>
            <a:lvl8pPr>
              <a:defRPr sz="1200" b="0">
                <a:solidFill>
                  <a:srgbClr val="536177"/>
                </a:solidFill>
              </a:defRPr>
            </a:lvl8pPr>
            <a:lvl9pPr>
              <a:defRPr sz="12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177"/>
                </a:solidFill>
              </a:defRPr>
            </a:pPr>
            <a:r>
              <a:rPr sz="1200" b="0">
                <a:solidFill>
                  <a:srgbClr val="536177"/>
                </a:solidFill>
              </a:rPr>
              <a:t>No hosted CI pipeline, tenant isolation, or safe horizontal scale-out is established by this design.</a:t>
            </a:r>
          </a:p>
        </p:txBody>
      </p:sp>
    </p:spTree>
    <p:extLst>
      <p:ext uri="{BB962C8B-B14F-4D97-AF65-F5344CB8AC3E}">
        <p14:creationId xmlns:p14="http://schemas.microsoft.com/office/powerpoint/2010/main" val="18131219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F6540-84AD-4572-8FE3-0926D37B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43876-6BC3-4A57-9FD0-B2EB26DC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Adopt in evidence-based maturity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75CC1-0125-48ED-9D93-6096870E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64F53-5D34-4FDE-A748-C17D2C6E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84F9C-36AB-475B-9F47-5DCB7791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B6AC3-7FA9-4A3D-AD38-0127E54A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C327D-D58D-41C6-983F-036B3F0D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98D23-9716-46AA-A65E-0509D608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01  Controlled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03183-2178-4419-9057-FA691A7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1717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Owners, signed-source references, minimum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4B56C-E244-4C13-9D18-E6B6C64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F953C-2B4C-4B50-BFEE-DA6067CE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26185-E9F3-4C44-94B4-30943CF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02  Repeatable reviews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76E3C-88BC-49E3-9AF3-462F36D2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9850"/>
            <a:ext cx="21717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Report pack, cadence, handovers, exceptions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F5557-3ACD-4765-ACD0-FA91D2A7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E3B31-AAAB-436B-8801-4BAF1F94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4E3BC-4990-4C17-B4D1-0B5B7F43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03  Financial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326A4-F908-44A0-BED3-3A4B95A1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21717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Independent reconciliation, cap/cohort, approvals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9A7A4-4956-4404-8E16-D9478C25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22EA4-558B-4566-BCB2-3B73296D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C1CA5-4F3C-4E99-9C0D-3CA86DFA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04  Optimized 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08D14-E8D9-4D08-B6C6-C10E19E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21717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Root-cause trends, renewal and quality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DC6A5-3619-4B4E-B12D-F686071C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Advance only when source records reconcile and control owners accept the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47E91-4BAF-4DBC-9004-7CF2D04C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177"/>
                </a:solidFill>
              </a:defRPr>
            </a:defPPr>
            <a:lvl1pPr>
              <a:defRPr sz="1200" b="0">
                <a:solidFill>
                  <a:srgbClr val="536177"/>
                </a:solidFill>
              </a:defRPr>
            </a:lvl1pPr>
            <a:lvl2pPr>
              <a:defRPr sz="1200" b="0">
                <a:solidFill>
                  <a:srgbClr val="536177"/>
                </a:solidFill>
              </a:defRPr>
            </a:lvl2pPr>
            <a:lvl3pPr>
              <a:defRPr sz="1200" b="0">
                <a:solidFill>
                  <a:srgbClr val="536177"/>
                </a:solidFill>
              </a:defRPr>
            </a:lvl3pPr>
            <a:lvl4pPr>
              <a:defRPr sz="1200" b="0">
                <a:solidFill>
                  <a:srgbClr val="536177"/>
                </a:solidFill>
              </a:defRPr>
            </a:lvl4pPr>
            <a:lvl5pPr>
              <a:defRPr sz="1200" b="0">
                <a:solidFill>
                  <a:srgbClr val="536177"/>
                </a:solidFill>
              </a:defRPr>
            </a:lvl5pPr>
            <a:lvl6pPr>
              <a:defRPr sz="1200" b="0">
                <a:solidFill>
                  <a:srgbClr val="536177"/>
                </a:solidFill>
              </a:defRPr>
            </a:lvl6pPr>
            <a:lvl7pPr>
              <a:defRPr sz="1200" b="0">
                <a:solidFill>
                  <a:srgbClr val="536177"/>
                </a:solidFill>
              </a:defRPr>
            </a:lvl7pPr>
            <a:lvl8pPr>
              <a:defRPr sz="1200" b="0">
                <a:solidFill>
                  <a:srgbClr val="536177"/>
                </a:solidFill>
              </a:defRPr>
            </a:lvl8pPr>
            <a:lvl9pPr>
              <a:defRPr sz="12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177"/>
                </a:solidFill>
              </a:defRPr>
            </a:pPr>
            <a:r>
              <a:rPr sz="1200" b="0">
                <a:solidFill>
                  <a:srgbClr val="536177"/>
                </a:solidFill>
              </a:rPr>
              <a:t>A demo or maturity label does not establish customer performance, compliance or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069539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12356-2754-4AB1-8646-771F4909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DBCF2"/>
                </a:solidFill>
              </a:defRPr>
            </a:defPPr>
            <a:lvl1pPr>
              <a:defRPr sz="1125" b="1">
                <a:solidFill>
                  <a:srgbClr val="8DBCF2"/>
                </a:solidFill>
              </a:defRPr>
            </a:lvl1pPr>
            <a:lvl2pPr>
              <a:defRPr sz="1125" b="1">
                <a:solidFill>
                  <a:srgbClr val="8DBCF2"/>
                </a:solidFill>
              </a:defRPr>
            </a:lvl2pPr>
            <a:lvl3pPr>
              <a:defRPr sz="1125" b="1">
                <a:solidFill>
                  <a:srgbClr val="8DBCF2"/>
                </a:solidFill>
              </a:defRPr>
            </a:lvl3pPr>
            <a:lvl4pPr>
              <a:defRPr sz="1125" b="1">
                <a:solidFill>
                  <a:srgbClr val="8DBCF2"/>
                </a:solidFill>
              </a:defRPr>
            </a:lvl4pPr>
            <a:lvl5pPr>
              <a:defRPr sz="1125" b="1">
                <a:solidFill>
                  <a:srgbClr val="8DBCF2"/>
                </a:solidFill>
              </a:defRPr>
            </a:lvl5pPr>
            <a:lvl6pPr>
              <a:defRPr sz="1125" b="1">
                <a:solidFill>
                  <a:srgbClr val="8DBCF2"/>
                </a:solidFill>
              </a:defRPr>
            </a:lvl6pPr>
            <a:lvl7pPr>
              <a:defRPr sz="1125" b="1">
                <a:solidFill>
                  <a:srgbClr val="8DBCF2"/>
                </a:solidFill>
              </a:defRPr>
            </a:lvl7pPr>
            <a:lvl8pPr>
              <a:defRPr sz="1125" b="1">
                <a:solidFill>
                  <a:srgbClr val="8DBCF2"/>
                </a:solidFill>
              </a:defRPr>
            </a:lvl8pPr>
            <a:lvl9pPr>
              <a:defRPr sz="1125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DBCF2"/>
                </a:solidFill>
              </a:defRPr>
            </a:pPr>
            <a:r>
              <a:rPr sz="1125" b="1">
                <a:solidFill>
                  <a:srgbClr val="8DBCF2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0A4E3-B819-44B2-8273-B08F5761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FFFFF"/>
                </a:solidFill>
              </a:defRPr>
            </a:defPPr>
            <a:lvl1pPr>
              <a:defRPr sz="2625" b="1">
                <a:solidFill>
                  <a:srgbClr val="FFFFFF"/>
                </a:solidFill>
              </a:defRPr>
            </a:lvl1pPr>
            <a:lvl2pPr>
              <a:defRPr sz="2625" b="1">
                <a:solidFill>
                  <a:srgbClr val="FFFFFF"/>
                </a:solidFill>
              </a:defRPr>
            </a:lvl2pPr>
            <a:lvl3pPr>
              <a:defRPr sz="2625" b="1">
                <a:solidFill>
                  <a:srgbClr val="FFFFFF"/>
                </a:solidFill>
              </a:defRPr>
            </a:lvl3pPr>
            <a:lvl4pPr>
              <a:defRPr sz="2625" b="1">
                <a:solidFill>
                  <a:srgbClr val="FFFFFF"/>
                </a:solidFill>
              </a:defRPr>
            </a:lvl4pPr>
            <a:lvl5pPr>
              <a:defRPr sz="2625" b="1">
                <a:solidFill>
                  <a:srgbClr val="FFFFFF"/>
                </a:solidFill>
              </a:defRPr>
            </a:lvl5pPr>
            <a:lvl6pPr>
              <a:defRPr sz="2625" b="1">
                <a:solidFill>
                  <a:srgbClr val="FFFFFF"/>
                </a:solidFill>
              </a:defRPr>
            </a:lvl6pPr>
            <a:lvl7pPr>
              <a:defRPr sz="2625" b="1">
                <a:solidFill>
                  <a:srgbClr val="FFFFFF"/>
                </a:solidFill>
              </a:defRPr>
            </a:lvl7pPr>
            <a:lvl8pPr>
              <a:defRPr sz="2625" b="1">
                <a:solidFill>
                  <a:srgbClr val="FFFFFF"/>
                </a:solidFill>
              </a:defRPr>
            </a:lvl8pPr>
            <a:lvl9pPr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Evaluate TIO Hub against real operating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082C9-D622-4BA1-8C18-C0B0DE9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ED437-5888-459A-9D90-0D5A5BAF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8C8DD"/>
                </a:solidFill>
              </a:defRPr>
            </a:defPPr>
            <a:lvl1pPr>
              <a:defRPr sz="900" b="0">
                <a:solidFill>
                  <a:srgbClr val="B8C8DD"/>
                </a:solidFill>
              </a:defRPr>
            </a:lvl1pPr>
            <a:lvl2pPr>
              <a:defRPr sz="900" b="0">
                <a:solidFill>
                  <a:srgbClr val="B8C8DD"/>
                </a:solidFill>
              </a:defRPr>
            </a:lvl2pPr>
            <a:lvl3pPr>
              <a:defRPr sz="900" b="0">
                <a:solidFill>
                  <a:srgbClr val="B8C8DD"/>
                </a:solidFill>
              </a:defRPr>
            </a:lvl3pPr>
            <a:lvl4pPr>
              <a:defRPr sz="900" b="0">
                <a:solidFill>
                  <a:srgbClr val="B8C8DD"/>
                </a:solidFill>
              </a:defRPr>
            </a:lvl4pPr>
            <a:lvl5pPr>
              <a:defRPr sz="900" b="0">
                <a:solidFill>
                  <a:srgbClr val="B8C8DD"/>
                </a:solidFill>
              </a:defRPr>
            </a:lvl5pPr>
            <a:lvl6pPr>
              <a:defRPr sz="900" b="0">
                <a:solidFill>
                  <a:srgbClr val="B8C8DD"/>
                </a:solidFill>
              </a:defRPr>
            </a:lvl6pPr>
            <a:lvl7pPr>
              <a:defRPr sz="900" b="0">
                <a:solidFill>
                  <a:srgbClr val="B8C8DD"/>
                </a:solidFill>
              </a:defRPr>
            </a:lvl7pPr>
            <a:lvl8pPr>
              <a:defRPr sz="900" b="0">
                <a:solidFill>
                  <a:srgbClr val="B8C8DD"/>
                </a:solidFill>
              </a:defRPr>
            </a:lvl8pPr>
            <a:lvl9pPr>
              <a:defRPr sz="900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8C8DD"/>
                </a:solidFill>
              </a:defRPr>
            </a:pPr>
            <a:r>
              <a:rPr sz="900" b="0">
                <a:solidFill>
                  <a:srgbClr val="B8C8DD"/>
                </a:solidFill>
              </a:rPr>
              <a:t>TIO Operations Hub  |  Advanced marketing draft 2.2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0DA1E-CF74-4D3E-88AD-6CFBDBE8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8C8DD"/>
                </a:solidFill>
              </a:defRPr>
            </a:defPPr>
            <a:lvl1pPr>
              <a:defRPr sz="900" b="1">
                <a:solidFill>
                  <a:srgbClr val="B8C8DD"/>
                </a:solidFill>
              </a:defRPr>
            </a:lvl1pPr>
            <a:lvl2pPr>
              <a:defRPr sz="900" b="1">
                <a:solidFill>
                  <a:srgbClr val="B8C8DD"/>
                </a:solidFill>
              </a:defRPr>
            </a:lvl2pPr>
            <a:lvl3pPr>
              <a:defRPr sz="900" b="1">
                <a:solidFill>
                  <a:srgbClr val="B8C8DD"/>
                </a:solidFill>
              </a:defRPr>
            </a:lvl3pPr>
            <a:lvl4pPr>
              <a:defRPr sz="900" b="1">
                <a:solidFill>
                  <a:srgbClr val="B8C8DD"/>
                </a:solidFill>
              </a:defRPr>
            </a:lvl4pPr>
            <a:lvl5pPr>
              <a:defRPr sz="900" b="1">
                <a:solidFill>
                  <a:srgbClr val="B8C8DD"/>
                </a:solidFill>
              </a:defRPr>
            </a:lvl5pPr>
            <a:lvl6pPr>
              <a:defRPr sz="900" b="1">
                <a:solidFill>
                  <a:srgbClr val="B8C8DD"/>
                </a:solidFill>
              </a:defRPr>
            </a:lvl6pPr>
            <a:lvl7pPr>
              <a:defRPr sz="900" b="1">
                <a:solidFill>
                  <a:srgbClr val="B8C8DD"/>
                </a:solidFill>
              </a:defRPr>
            </a:lvl7pPr>
            <a:lvl8pPr>
              <a:defRPr sz="900" b="1">
                <a:solidFill>
                  <a:srgbClr val="B8C8DD"/>
                </a:solidFill>
              </a:defRPr>
            </a:lvl8pPr>
            <a:lvl9pPr>
              <a:defRPr sz="900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8C8DD"/>
                </a:solidFill>
              </a:defRPr>
            </a:pPr>
            <a:r>
              <a:rPr sz="900" b="1">
                <a:solidFill>
                  <a:srgbClr val="B8C8D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FD222-091A-409D-8F98-D8812E1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A0EC1-6100-4958-B3D3-AF334F62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Identify the workflow and data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D721C-6A2C-4895-B378-8B2EA80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47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Fit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C3784-E643-4026-BB4D-A674473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145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Confirm identity, hosting, recovery and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CB1BA-105D-4269-9588-39C7B0A1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47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Pilot 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2788C-9984-4E75-A66C-E6BA5200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145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Agree users, measures, acceptance and exit.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4CD91-CAC3-4D2F-8961-054ACEE8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572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03451"/>
          </a:solidFill>
          <a:ln xmlns:a="http://schemas.openxmlformats.org/drawingml/2006/main" w="9525">
            <a:solidFill>
              <a:srgbClr val="3448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C4182-353D-4685-B478-162E4348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Review the workflow against your operational requirements.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50BB7-694E-48C5-B55B-EB774EB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8DD"/>
                </a:solidFill>
              </a:defRPr>
            </a:defPPr>
            <a:lvl1pPr>
              <a:defRPr sz="1275" b="0">
                <a:solidFill>
                  <a:srgbClr val="B8C8DD"/>
                </a:solidFill>
              </a:defRPr>
            </a:lvl1pPr>
            <a:lvl2pPr>
              <a:defRPr sz="1275" b="0">
                <a:solidFill>
                  <a:srgbClr val="B8C8DD"/>
                </a:solidFill>
              </a:defRPr>
            </a:lvl2pPr>
            <a:lvl3pPr>
              <a:defRPr sz="1275" b="0">
                <a:solidFill>
                  <a:srgbClr val="B8C8DD"/>
                </a:solidFill>
              </a:defRPr>
            </a:lvl3pPr>
            <a:lvl4pPr>
              <a:defRPr sz="1275" b="0">
                <a:solidFill>
                  <a:srgbClr val="B8C8DD"/>
                </a:solidFill>
              </a:defRPr>
            </a:lvl4pPr>
            <a:lvl5pPr>
              <a:defRPr sz="1275" b="0">
                <a:solidFill>
                  <a:srgbClr val="B8C8DD"/>
                </a:solidFill>
              </a:defRPr>
            </a:lvl5pPr>
            <a:lvl6pPr>
              <a:defRPr sz="1275" b="0">
                <a:solidFill>
                  <a:srgbClr val="B8C8DD"/>
                </a:solidFill>
              </a:defRPr>
            </a:lvl6pPr>
            <a:lvl7pPr>
              <a:defRPr sz="1275" b="0">
                <a:solidFill>
                  <a:srgbClr val="B8C8DD"/>
                </a:solidFill>
              </a:defRPr>
            </a:lvl7pPr>
            <a:lvl8pPr>
              <a:defRPr sz="1275" b="0">
                <a:solidFill>
                  <a:srgbClr val="B8C8DD"/>
                </a:solidFill>
              </a:defRPr>
            </a:lvl8pPr>
            <a:lvl9pPr>
              <a:defRPr sz="1275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8DD"/>
                </a:solidFill>
              </a:defRPr>
            </a:pPr>
            <a:r>
              <a:rPr sz="1275" b="0">
                <a:solidFill>
                  <a:srgbClr val="B8C8DD"/>
                </a:solidFill>
              </a:rPr>
              <a:t>Product boundaries and approval requirements are recorded in the accompanying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752375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2026-10-24T11:34:48.2800000Z</dcterms:created>
  <dcterms:modified xsi:type="dcterms:W3CDTF">2026-10-24T11:34:48.2800000Z</dcterms:modified>
</coreProperties>
</file>